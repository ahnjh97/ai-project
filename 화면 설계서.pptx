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76A266-F073-4BEE-A498-70C49DF5B5BC}" v="238" dt="2026-03-13T04:49:59.069"/>
    <p1510:client id="{463439AC-DE7E-4042-BD8E-4B3AD3CACCB5}" v="1901" dt="2026-03-13T08:06:35.265"/>
    <p1510:client id="{9A88B9CC-74D1-4A19-AE98-368250AE8D85}" v="1" dt="2026-03-13T01:09:57.030"/>
    <p1510:client id="{EF0DC70E-F6E4-47AD-AFC4-3FA60941A9A3}" v="9" dt="2026-03-13T01:09:32.1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8901 728 16383 0 0,'3'0'0'0'0,"4"0"0"0"0,0 2 0 0 0,2 8 0 0 0,-1 3 0 0 0,-1 6 0 0 0,-2 3 0 0 0,3-4 0 0 0,1 0 0 0 0,-1-2 0 0 0,0-1 0 0 0,0 1 0 0 0,-3 0 0 0 0,2-3 0 0 0,-1 2 0 0 0,-2 1 0 0 0,2-2 0 0 0,0-1 0 0 0,-2 1 0 0 0,2-3 0 0 0,0 0 0 0 0,1-2 0 0 0,0 0 0 0 0,1-1 0 0 0,5-2 0 0 0,4-2 0 0 0,0-2 0 0 0,1-1 0 0 0,0-1 0 0 0,0 0 0 0 0,-1-1 0 0 0,3 1 0 0 0,0-1 0 0 0,0 1 0 0 0,-1 0 0 0 0,-3-3 0 0 0,-2-1 0 0 0,-1 1 0 0 0,-2-3 0 0 0,-1 1 0 0 0,2-3 0 0 0,3 1 0 0 0,0-2 0 0 0,0 2 0 0 0,0 1 0 0 0,-3-4 0 0 0,0 0 0 0 0,-2-1 0 0 0,-6 1 0 0 0,-6 3 0 0 0,-9 2 0 0 0,-4 2 0 0 0,-4 1 0 0 0,0 2 0 0 0,0 0 0 0 0,0 0 0 0 0,1 1 0 0 0,1-1 0 0 0,2 6 0 0 0,0 2 0 0 0,-2-1 0 0 0,0 1 0 0 0,0 0 0 0 0,1-2 0 0 0,2 1 0 0 0,1-1 0 0 0,0 2 0 0 0,-4-1 0 0 0,-1-2 0 0 0,0 2 0 0 0,-1 1 0 0 0,1 1 0 0 0,1 0 0 0 0,0 0 0 0 0,-3 3 0 0 0,0 2 0 0 0,0 0 0 0 0,4-1 0 0 0,2-2 0 0 0,0 0 0 0 0,0-3 0 0 0,2 1 0 0 0,1-1 0 0 0,1 1 0 0 0,-2-2 0 0 0,-2 1 0 0 0,-2 3 0 0 0,0-2 0 0 0,2 4 0 0 0,0 2 0 0 0,1 2 0 0 0,2-3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7949 1217 16383 0 0,'-3'0'0'0'0,"0"3"0"0"0,-4 1 0 0 0,-2-1 0 0 0,0 3 0 0 0,-2-1 0 0 0,5-3 0 0 0,5-2 0 0 0,4-4 0 0 0,3-1 0 0 0,4 0 0 0 0,6 1 0 0 0,2-2 0 0 0,2 1 0 0 0,-1 1 0 0 0,0 0 0 0 0,0 2 0 0 0,-2 1 0 0 0,3 1 0 0 0,0 0 0 0 0,0 0 0 0 0,-4-3 0 0 0,-1 0 0 0 0,-1 0 0 0 0,0 0 0 0 0,0 1 0 0 0,1 1 0 0 0,3 0 0 0 0,2 1 0 0 0,0 0 0 0 0,-1 0 0 0 0,-1 0 0 0 0,0-5 0 0 0,-1-2 0 0 0,2 0 0 0 0,1 1 0 0 0,0 2 0 0 0,-1 2 0 0 0,-1 0 0 0 0,-1 2 0 0 0,0 0 0 0 0,2 0 0 0 0,1 0 0 0 0,0 1 0 0 0,-1-1 0 0 0,-1 0 0 0 0,0 0 0 0 0,-2 0 0 0 0,4 0 0 0 0,0 0 0 0 0,-1 0 0 0 0,0 0 0 0 0,-1 0 0 0 0,0 0 0 0 0,-1 0 0 0 0,-1 0 0 0 0,-2 3 0 0 0,-5 3 0 0 0,-5 1 0 0 0,-7 0 0 0 0,-6-2 0 0 0,-4-2 0 0 0,-2-1 0 0 0,-2-1 0 0 0,-3-1 0 0 0,-1 0 0 0 0,3 2 0 0 0,1 2 0 0 0,2-1 0 0 0,0 0 0 0 0,0-1 0 0 0,0-1 0 0 0,-4-1 0 0 0,0 1 0 0 0,-1-1 0 0 0,1-1 0 0 0,1 1 0 0 0,0 0 0 0 0,1 0 0 0 0,-2 0 0 0 0,-1 0 0 0 0,0 0 0 0 0,1 0 0 0 0,1 0 0 0 0,1 0 0 0 0,0 0 0 0 0,-3 0 0 0 0,1 0 0 0 0,-1 0 0 0 0,1 0 0 0 0,1 0 0 0 0,0 0 0 0 0,2 0 0 0 0,-1 0 0 0 0,4-3 0 0 0,-3-1 0 0 0,0 1 0 0 0,-1 0 0 0 0,0-4 0 0 0,0-2 0 0 0,0 1 0 0 0,1 2 0 0 0,2 0 0 0 0,-2-1 0 0 0,0 3 0 0 0,-1 1 0 0 0,0 1 0 0 0,0 1 0 0 0,3-2 0 0 0,1-1 0 0 0,3-2 0 0 0,3-3 0 0 0,-1 0 0 0 0,3-1 0 0 0,0-2 0 0 0,-3 2 0 0 0,-1-4 0 0 0,1-2 0 0 0,0 2 0 0 0,0 0 0 0 0,3 0 0 0 0,1 0 0 0 0,1-1 0 0 0,2 0 0 0 0,1-4 0 0 0,0-1 0 0 0,1 0 0 0 0,-1 1 0 0 0,0 1 0 0 0,0 0 0 0 0,6 4 0 0 0,2 1 0 0 0,-1 0 0 0 0,1 3 0 0 0,0-4 0 0 0,1 2 0 0 0,-2 0 0 0 0,-1-2 0 0 0,1 3 0 0 0,-1 0 0 0 0,-1-1 0 0 0,-2-1 0 0 0,-1-2 0 0 0,2 3 0 0 0,0-3 0 0 0,-1-1 0 0 0,3 1 0 0 0,2 4 0 0 0,6 4 0 0 0,3 3 0 0 0,1 2 0 0 0,1 1 0 0 0,-1 2 0 0 0,0-1 0 0 0,0 1 0 0 0,2 0 0 0 0,0-1 0 0 0,0 0 0 0 0,-1 1 0 0 0,-1-1 0 0 0,0 0 0 0 0,-1 0 0 0 0,-1 0 0 0 0,3 0 0 0 0,1 0 0 0 0,-1 0 0 0 0,0 0 0 0 0,0-1 0 0 0,-2 1 0 0 0,0 0 0 0 0,2 0 0 0 0,1 0 0 0 0,0 0 0 0 0,-1 0 0 0 0,-1 0 0 0 0,-1 0 0 0 0,0 0 0 0 0,2 0 0 0 0,1 0 0 0 0,0 0 0 0 0,-1 0 0 0 0,-1 0 0 0 0,0 0 0 0 0,-2 0 0 0 0,4 0 0 0 0,0 0 0 0 0,-1 0 0 0 0,0 0 0 0 0,-1 0 0 0 0,0 0 0 0 0,-1 0 0 0 0,-1 0 0 0 0,3 0 0 0 0,1 0 0 0 0,0 0 0 0 0,-1 0 0 0 0,-1 0 0 0 0,-1 0 0 0 0,0 0 0 0 0,2 0 0 0 0,1 0 0 0 0,0 0 0 0 0,-1 0 0 0 0,-1 0 0 0 0,0 0 0 0 0,-1 0 0 0 0,2 0 0 0 0,1 0 0 0 0,-1 0 0 0 0,0 0 0 0 0,-1 0 0 0 0,0 0 0 0 0,-1 0 0 0 0,-1 0 0 0 0,3 0 0 0 0,1 0 0 0 0,0 0 0 0 0,-1 0 0 0 0,-1 0 0 0 0,-1 0 0 0 0,0 0 0 0 0,3 0 0 0 0,0 0 0 0 0,-1 0 0 0 0,0 0 0 0 0,-1 0 0 0 0,0 0 0 0 0,-1 0 0 0 0,2 0 0 0 0,1 0 0 0 0,-1 0 0 0 0,0 0 0 0 0,0 0 0 0 0,-2 0 0 0 0,0 0 0 0 0,2 0 0 0 0,1 0 0 0 0,0 0 0 0 0,-1 0 0 0 0,-1 0 0 0 0,-1 0 0 0 0,0 0 0 0 0,-3-2 0 0 0,-2-2 0 0 0,4 1 0 0 0,1 0 0 0 0,0 1 0 0 0,1 0 0 0 0,0 2 0 0 0,-1 0 0 0 0,0 0 0 0 0,2 0 0 0 0,-1 3 0 0 0,-2 0 0 0 0,-3 7 0 0 0,-4 3 0 0 0,-4 2 0 0 0,-2 2 0 0 0,1-2 0 0 0,-1-1 0 0 0,0 0 0 0 0,-1 0 0 0 0,0 3 0 0 0,-2 2 0 0 0,1 1 0 0 0,-1-1 0 0 0,-1-1 0 0 0,1-1 0 0 0,3-2 0 0 0,0-2 0 0 0,1 0 0 0 0,-1 3 0 0 0,-1 2 0 0 0,-1 0 0 0 0,0 0 0 0 0,-1 0 0 0 0,0 0 0 0 0,0-1 0 0 0,0 2 0 0 0,-1 1 0 0 0,1 0 0 0 0,3-4 0 0 0,1-1 0 0 0,-1-1 0 0 0,0 0 0 0 0,2-2 0 0 0,0-1 0 0 0,-1 4 0 0 0,-1 1 0 0 0,2-1 0 0 0,0-1 0 0 0,-1 1 0 0 0,-4-4 0 0 0,-5-2 0 0 0,-4-3 0 0 0,-3-3 0 0 0,-3-2 0 0 0,-4-1 0 0 0,1 2 0 0 0,1 2 0 0 0,1-2 0 0 0,0 1 0 0 0,0-2 0 0 0,0 0 0 0 0,0 0 0 0 0,2 2 0 0 0,-1 1 0 0 0,-1-1 0 0 0,-1 0 0 0 0,0-1 0 0 0,0-1 0 0 0,0-1 0 0 0,0 0 0 0 0,0 0 0 0 0,-2 0 0 0 0,-1 0 0 0 0,0 0 0 0 0,1 0 0 0 0,1 0 0 0 0,1 0 0 0 0,0 0 0 0 0,-3 0 0 0 0,0 0 0 0 0,1 0 0 0 0,0 0 0 0 0,1 0 0 0 0,0 0 0 0 0,1 0 0 0 0,-2 0 0 0 0,-1 0 0 0 0,0 0 0 0 0,2 0 0 0 0,-1 0 0 0 0,2 0 0 0 0,0 0 0 0 0,-2 0 0 0 0,-1 0 0 0 0,0 0 0 0 0,1 0 0 0 0,1 0 0 0 0,1 0 0 0 0,0 0 0 0 0,0 0 0 0 0,-2 0 0 0 0,-1 0 0 0 0,1 0 0 0 0,0 0 0 0 0,1 0 0 0 0,0 0 0 0 0,1 0 0 0 0,-2-3 0 0 0,-1-1 0 0 0,0 1 0 0 0,1 0 0 0 0,1 1 0 0 0,1 1 0 0 0,0 0 0 0 0,-2 1 0 0 0,-1 0 0 0 0,0 0 0 0 0,1 0 0 0 0,4-3 0 0 0,1 0 0 0 0,1-1 0 0 0,-1 2 0 0 0,0 0 0 0 0,-4 0 0 0 0,2-1 0 0 0,0-1 0 0 0,1 1 0 0 0,-1 0 0 0 0,3-2 0 0 0,1 0 0 0 0,2-4 0 0 0,1-2 0 0 0,1 0 0 0 0,-1 0 0 0 0,2 0 0 0 0,-4 2 0 0 0,0 0 0 0 0,-1 1 0 0 0,2-1 0 0 0,2-1 0 0 0,0 0 0 0 0,1 0 0 0 0,0 1 0 0 0,0-3 0 0 0,-1 0 0 0 0,0 0 0 0 0,0 2 0 0 0,0-1 0 0 0,0 2 0 0 0,-5 3 0 0 0,-4 2 0 0 0,3-1 0 0 0,-1 0 0 0 0,1 1 0 0 0,-1 2 0 0 0,3-3 0 0 0,0 1 0 0 0,-1 0 0 0 0,3-2 0 0 0,-4 1 0 0 0,2-2 0 0 0,-1 0 0 0 0,2-4 0 0 0,4-4 0 0 0,-1 2 0 0 0,1 0 0 0 0,3-1 0 0 0,3 2 0 0 0,9 4 0 0 0,2-1 0 0 0,2 2 0 0 0,3 2 0 0 0,0 2 0 0 0,2 1 0 0 0,-1 2 0 0 0,1 0 0 0 0,3 0 0 0 0,0 0 0 0 0,0 1 0 0 0,-1-1 0 0 0,0 0 0 0 0,-2 0 0 0 0,0 0 0 0 0,3 1 0 0 0,-1-1 0 0 0,1 0 0 0 0,-1-1 0 0 0,-1 1 0 0 0,0 0 0 0 0,-2 0 0 0 0,4 0 0 0 0,0 0 0 0 0,-1 0 0 0 0,0 0 0 0 0,-1 0 0 0 0,0 0 0 0 0,-1 0 0 0 0,-1 0 0 0 0,3 0 0 0 0,1 0 0 0 0,0 0 0 0 0,-1 0 0 0 0,-1 0 0 0 0,-1 0 0 0 0,0 0 0 0 0,2 0 0 0 0,1 0 0 0 0,0 0 0 0 0,-1 0 0 0 0,-1 0 0 0 0,0 0 0 0 0,-1 0 0 0 0,-7 0 0 0 0,-6 0 0 0 0,-8 0 0 0 0,-5 0 0 0 0,-5 0 0 0 0,-5 0 0 0 0,1 3 0 0 0,1 1 0 0 0,0-1 0 0 0,0 0 0 0 0,1-1 0 0 0,-1 0 0 0 0,1-2 0 0 0,-3 0 0 0 0,-1 0 0 0 0,1 0 0 0 0,0 0 0 0 0,0 0 0 0 0,2 0 0 0 0,0 0 0 0 0,0 0 0 0 0,-2 0 0 0 0,-1 0 0 0 0,4 2 0 0 0,0 2 0 0 0,2 0 0 0 0,-1-1 0 0 0,0-1 0 0 0,0-1 0 0 0,-4-1 0 0 0,0 1 0 0 0,8-1 0 0 0,8 0 0 0 0,8-1 0 0 0,6 1 0 0 0,4 0 0 0 0,1 0 0 0 0,2 0 0 0 0,3 0 0 0 0,0 0 0 0 0,0 0 0 0 0,-1 0 0 0 0,-1 0 0 0 0,-1 0 0 0 0,-1 0 0 0 0,0 0 0 0 0,2 0 0 0 0,0 0 0 0 0,1 0 0 0 0,-4-3 0 0 0,-2 0 0 0 0,0-1 0 0 0,0 1 0 0 0,-2-2 0 0 0,-1 1 0 0 0,4-1 0 0 0,-1-1 0 0 0,0 1 0 0 0,-2-3 0 0 0,-4-1 0 0 0,-8-1 0 0 0,-7 3 0 0 0,-5 1 0 0 0,-4 3 0 0 0,-1 1 0 0 0,-1 2 0 0 0,0-6 0 0 0,-2-1 0 0 0,-1 1 0 0 0,0 0 0 0 0,2 3 0 0 0,0 0 0 0 0,1 2 0 0 0,2 1 0 0 0,2-3 0 0 0,1-1 0 0 0,6 1 0 0 0,7 1 0 0 0,6 0 0 0 0,4 1 0 0 0,5 0 0 0 0,1 1 0 0 0,4 0 0 0 0,1 0 0 0 0,0 0 0 0 0,-1 1 0 0 0,-1-1 0 0 0,-1 0 0 0 0,-1 0 0 0 0,3 0 0 0 0,0 0 0 0 0,-1 0 0 0 0,0 0 0 0 0,-1 0 0 0 0,0 0 0 0 0,-1 0 0 0 0,2 0 0 0 0,1 0 0 0 0,-1 0 0 0 0,0 0 0 0 0,-1 0 0 0 0,0 0 0 0 0,-1 0 0 0 0,-1 0 0 0 0,3 0 0 0 0,1 0 0 0 0,0 0 0 0 0,-1 0 0 0 0,-1 0 0 0 0,-1 0 0 0 0,0 0 0 0 0,3 0 0 0 0,0 0 0 0 0,-1 0 0 0 0,3 0 0 0 0,0 0 0 0 0,1 0 0 0 0,1 0 0 0 0,-2 0 0 0 0,-2 0 0 0 0,-1 0 0 0 0,-1 0 0 0 0,-2 0 0 0 0,-2 5 0 0 0,1 3 0 0 0,1-1 0 0 0,1-2 0 0 0,0-1 0 0 0,0-1 0 0 0,-1-2 0 0 0,1 0 0 0 0,0-1 0 0 0,2 0 0 0 0,1 2 0 0 0,0 1 0 0 0,-1 1 0 0 0,-1-2 0 0 0,-1 0 0 0 0,0-1 0 0 0,3 3 0 0 0,0 0 0 0 0,-4 2 0 0 0,-3 3 0 0 0,-2 0 0 0 0,-3 1 0 0 0,-2 2 0 0 0,-3 2 0 0 0,-1 3 0 0 0,-2 2 0 0 0,0 1 0 0 0,-1-1 0 0 0,1 0 0 0 0,-1-1 0 0 0,1-1 0 0 0,0 3 0 0 0,-3-3 0 0 0,-1-1 0 0 0,1-1 0 0 0,-6-2 0 0 0,0-1 0 0 0,-2-3 0 0 0,1 0 0 0 0,2 2 0 0 0,0-2 0 0 0,1 1 0 0 0,-1-2 0 0 0,-2 4 0 0 0,-2 0 0 0 0,2 0 0 0 0,-2-1 0 0 0,-3-4 0 0 0,1 1 0 0 0,-1-1 0 0 0,0-2 0 0 0,0-2 0 0 0,2 1 0 0 0,1 1 0 0 0,0-2 0 0 0,-2 0 0 0 0,3 2 0 0 0,-1-1 0 0 0,-3 0 0 0 0,-2-1 0 0 0,2 2 0 0 0,1-1 0 0 0,0 0 0 0 0,-1-1 0 0 0,3 2 0 0 0,0 0 0 0 0,0-1 0 0 0,-4-1 0 0 0,1 4 0 0 0,0 1 0 0 0,0 0 0 0 0,-1 0 0 0 0,1 0 0 0 0,-1-2 0 0 0,0-2 0 0 0,-3-2 0 0 0,-1-1 0 0 0,0 0 0 0 0,1-2 0 0 0,0 1 0 0 0,2 0 0 0 0,0-1 0 0 0,0 1 0 0 0,-2 0 0 0 0,-1 0 0 0 0,1 0 0 0 0,0 0 0 0 0,1 0 0 0 0,0 0 0 0 0,1 0 0 0 0,-2 0 0 0 0,-1 0 0 0 0,0 0 0 0 0,4 3 0 0 0,2 0 0 0 0,0 1 0 0 0,0-1 0 0 0,-1-1 0 0 0,-2-1 0 0 0,-3 0 0 0 0,1-1 0 0 0,0 0 0 0 0,1 0 0 0 0,0 0 0 0 0,1-1 0 0 0,-2 1 0 0 0,-1 0 0 0 0,0 0 0 0 0,1 0 0 0 0,1 0 0 0 0,0 0 0 0 0,1 0 0 0 0,1 0 0 0 0,3-3 0 0 0,-3 0 0 0 0,0-1 0 0 0,-1 1 0 0 0,0 1 0 0 0,0 1 0 0 0,3-5 0 0 0,1-2 0 0 0,0 1 0 0 0,-3 2 0 0 0,-2 1 0 0 0,-1 2 0 0 0,1 0 0 0 0,0 2 0 0 0,0 0 0 0 0,1 0 0 0 0,3-2 0 0 0,-1-2 0 0 0,-2 1 0 0 0,1 0 0 0 0,-1 2 0 0 0,0-1 0 0 0,0 2 0 0 0,0-1 0 0 0,-2 1 0 0 0,-1 1 0 0 0,3-4 0 0 0,1-1 0 0 0,2 1 0 0 0,-1 0 0 0 0,0 1 0 0 0,0 1 0 0 0,-1 0 0 0 0,3 4 0 0 0,-2 1 0 0 0,1 5 0 0 0,1 1 0 0 0,2-1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9687 1230 16383 0 0,'-6'0'0'0'0,"-4"0"0"0"0,-3 0 0 0 0,-3 0 0 0 0,-1 0 0 0 0,0 0 0 0 0,-1 0 0 0 0,-2 0 0 0 0,0 0 0 0 0,-1 0 0 0 0,2 3 0 0 0,1 1 0 0 0,0-1 0 0 0,1 0 0 0 0,1-1 0 0 0,-3-1 0 0 0,-1 0 0 0 0,0-1 0 0 0,1 0 0 0 0,1 0 0 0 0,1 0 0 0 0,0 0 0 0 0,-2 0 0 0 0,-1 0 0 0 0,0 0 0 0 0,1 0 0 0 0,1 0 0 0 0,0 0 0 0 0,2 0 0 0 0,-4 0 0 0 0,0 0 0 0 0,1 0 0 0 0,0 0 0 0 0,1 0 0 0 0,0 0 0 0 0,1 0 0 0 0,6 0 0 0 0,8 0 0 0 0,7 0 0 0 0,5 0 0 0 0,5 0 0 0 0,4 0 0 0 0,3 0 0 0 0,1 2 0 0 0,-2 2 0 0 0,-3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4048 2355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56AA23D-13A2-D472-4095-E1C32CD9C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050088"/>
              </p:ext>
            </p:extLst>
          </p:nvPr>
        </p:nvGraphicFramePr>
        <p:xfrm>
          <a:off x="9976338" y="902676"/>
          <a:ext cx="2174094" cy="53485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811809893"/>
                    </a:ext>
                  </a:extLst>
                </a:gridCol>
                <a:gridCol w="1869294">
                  <a:extLst>
                    <a:ext uri="{9D8B030D-6E8A-4147-A177-3AD203B41FA5}">
                      <a16:colId xmlns:a16="http://schemas.microsoft.com/office/drawing/2014/main" val="2090145214"/>
                    </a:ext>
                  </a:extLst>
                </a:gridCol>
              </a:tblGrid>
              <a:tr h="246184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1"/>
                        <a:t>항목별 기능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642397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 dirty="0"/>
                        <a:t>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/>
                        <a:t>자치구 선택 드롭다운 메뉴.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 sz="800" dirty="0"/>
                        <a:t>자치구 선택 시 대시보드 전체가 선택</a:t>
                      </a:r>
                      <a:r>
                        <a:rPr lang="ko-KR" altLang="en-US" sz="800"/>
                        <a:t>된 자치구의 정보로 변경됨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53850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2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800"/>
                        <a:t>네비게이션 바 로고.​</a:t>
                      </a:r>
                      <a:br>
                        <a:rPr lang="ko-KR" altLang="en-US" sz="800" dirty="0"/>
                      </a:br>
                      <a:r>
                        <a:rPr lang="ko-KR" altLang="en-US" sz="800"/>
                        <a:t>클릭 시 메인 대시보드 페이지(현재 페이지)로 이동 및 데이</a:t>
                      </a:r>
                      <a:r>
                        <a:rPr lang="ko-KR" altLang="en-US" sz="800" dirty="0"/>
                        <a:t>터 새로고침 수행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583738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3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클릭 시 회원정보 수정 페이지로 이동</a:t>
                      </a:r>
                      <a:endParaRPr lang="ko-KR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90674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4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/>
                        <a:t>클릭 시 로그아웃 후 로그인 버튼으로 </a:t>
                      </a:r>
                      <a:r>
                        <a:rPr lang="ko-KR" altLang="en-US" sz="800" dirty="0"/>
                        <a:t>전환되거나, 로그인 페이지로 이동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830816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5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선택된 자치구의 과거 및 향후 3일간의 </a:t>
                      </a:r>
                      <a:r>
                        <a:rPr lang="ko-KR" altLang="en-US" sz="800"/>
                        <a:t>단계별 예측치를 시각화한 그래프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744620"/>
                  </a:ext>
                </a:extLst>
              </a:tr>
              <a:tr h="4615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6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선택된 자치구의 현재 미세먼지 농도. </a:t>
                      </a:r>
                      <a:r>
                        <a:rPr lang="ko-KR" altLang="en-US" sz="800"/>
                        <a:t>Hover 시 0~3일 전의 미세먼지 농도를 보여주는 팝오버 노출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03672"/>
                  </a:ext>
                </a:extLst>
              </a:tr>
              <a:tr h="4615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7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선택된 자치구의 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0~3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일 후의 호흡기 질환 환자 수 예측값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endParaRPr lang="ko-KR" alt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Hover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시 해당 예측에 대한 근거 관련 팝오버 노출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020116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8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사용자 프로필과 선택된 자치구의 예측 데이터를 결합하여, 향후 3일간의 건강 위험도를 확률로 시각화한 위젯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b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Hover 시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해당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확률에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대한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근거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제공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987540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9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</a:rPr>
                        <a:t>Choropleth</a:t>
                      </a: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</a:rPr>
                        <a:t>Map</a:t>
                      </a: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</a:rPr>
                        <a:t>을 활용한 서울시 자치구별 예측 환자 수 위험도 히트맵.</a:t>
                      </a:r>
                      <a:b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</a:rPr>
                      </a:b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</a:rPr>
                        <a:t>​자치구 클릭 시 대시보드 전체가 해당 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</a:rPr>
                        <a:t>자치구의 정보로 변경됨</a:t>
                      </a:r>
                      <a:endParaRPr lang="ko-KR" altLang="en-US" sz="800" b="0" i="0" u="none" strike="noStrike" noProof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908179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10</a:t>
                      </a:r>
                      <a:endParaRPr lang="ko-KR" sz="85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산출된 증상 발현 확률에 따라 사용자의 예방 수칙 및 행동 요령을 제공</a:t>
                      </a:r>
                      <a:endParaRPr lang="ko-KR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845657"/>
                  </a:ext>
                </a:extLst>
              </a:tr>
            </a:tbl>
          </a:graphicData>
        </a:graphic>
      </p:graphicFrame>
      <p:pic>
        <p:nvPicPr>
          <p:cNvPr id="2" name="그림 1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C77BBC-795A-D32C-8A7E-B5FC43DC0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" y="12290"/>
            <a:ext cx="9926306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3D6A9A-E45B-9489-DD7F-4945975D5EEC}"/>
              </a:ext>
            </a:extLst>
          </p:cNvPr>
          <p:cNvSpPr txBox="1">
            <a:spLocks/>
          </p:cNvSpPr>
          <p:nvPr/>
        </p:nvSpPr>
        <p:spPr>
          <a:xfrm>
            <a:off x="487526" y="389617"/>
            <a:ext cx="255012" cy="25492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1ECD3-76C9-80E4-AF32-ED3E987AD722}"/>
              </a:ext>
            </a:extLst>
          </p:cNvPr>
          <p:cNvSpPr txBox="1">
            <a:spLocks/>
          </p:cNvSpPr>
          <p:nvPr/>
        </p:nvSpPr>
        <p:spPr>
          <a:xfrm>
            <a:off x="8506959" y="389615"/>
            <a:ext cx="255012" cy="25492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3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D3D1C2-6A16-0324-4F05-6A126129A670}"/>
              </a:ext>
            </a:extLst>
          </p:cNvPr>
          <p:cNvSpPr txBox="1">
            <a:spLocks/>
          </p:cNvSpPr>
          <p:nvPr/>
        </p:nvSpPr>
        <p:spPr>
          <a:xfrm>
            <a:off x="9410297" y="389614"/>
            <a:ext cx="255012" cy="25492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4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64AE57-FC40-15E1-ABDE-C4458D765DBE}"/>
              </a:ext>
            </a:extLst>
          </p:cNvPr>
          <p:cNvSpPr txBox="1">
            <a:spLocks/>
          </p:cNvSpPr>
          <p:nvPr/>
        </p:nvSpPr>
        <p:spPr>
          <a:xfrm>
            <a:off x="1882477" y="1360551"/>
            <a:ext cx="255012" cy="25492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5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A3A04C-F57B-C3D2-149F-1B8138B16100}"/>
              </a:ext>
            </a:extLst>
          </p:cNvPr>
          <p:cNvSpPr txBox="1">
            <a:spLocks/>
          </p:cNvSpPr>
          <p:nvPr/>
        </p:nvSpPr>
        <p:spPr>
          <a:xfrm>
            <a:off x="4082443" y="1667808"/>
            <a:ext cx="255012" cy="25492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7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84882F-DACA-5078-71CB-7EC288B7A390}"/>
              </a:ext>
            </a:extLst>
          </p:cNvPr>
          <p:cNvSpPr txBox="1">
            <a:spLocks/>
          </p:cNvSpPr>
          <p:nvPr/>
        </p:nvSpPr>
        <p:spPr>
          <a:xfrm>
            <a:off x="9150027" y="2183623"/>
            <a:ext cx="255012" cy="25492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8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6198ADA9-A7D9-EDB5-8185-A153EAA60DAA}"/>
                  </a:ext>
                </a:extLst>
              </p14:cNvPr>
              <p14:cNvContentPartPr/>
              <p14:nvPr/>
            </p14:nvContentPartPr>
            <p14:xfrm>
              <a:off x="1564602" y="181707"/>
              <a:ext cx="237938" cy="185611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6198ADA9-A7D9-EDB5-8185-A153EAA60D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6990" y="164115"/>
                <a:ext cx="273521" cy="2211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359440EE-3282-3D44-FB70-2EEA5301D19D}"/>
                  </a:ext>
                </a:extLst>
              </p14:cNvPr>
              <p14:cNvContentPartPr/>
              <p14:nvPr/>
            </p14:nvContentPartPr>
            <p14:xfrm>
              <a:off x="1142398" y="116975"/>
              <a:ext cx="772425" cy="270141"/>
            </p14:xfrm>
          </p:contentPart>
        </mc:Choice>
        <mc:Fallback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359440EE-3282-3D44-FB70-2EEA5301D1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79438" y="54386"/>
                <a:ext cx="897985" cy="3956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38343349-AC1D-1841-96DF-DDB41A1C8A54}"/>
                  </a:ext>
                </a:extLst>
              </p14:cNvPr>
              <p14:cNvContentPartPr/>
              <p14:nvPr/>
            </p14:nvContentPartPr>
            <p14:xfrm>
              <a:off x="1682443" y="392722"/>
              <a:ext cx="234279" cy="11723"/>
            </p14:xfrm>
          </p:contentPart>
        </mc:Choice>
        <mc:Fallback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38343349-AC1D-1841-96DF-DDB41A1C8A5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19921" y="316740"/>
                <a:ext cx="359683" cy="1632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EB50DD78-916B-46C4-02B7-93CC88D34BD4}"/>
                  </a:ext>
                </a:extLst>
              </p14:cNvPr>
              <p14:cNvContentPartPr/>
              <p14:nvPr/>
            </p14:nvContentPartPr>
            <p14:xfrm>
              <a:off x="-527537" y="890953"/>
              <a:ext cx="11723" cy="11723"/>
            </p14:xfrm>
          </p:contentPart>
        </mc:Choice>
        <mc:Fallback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EB50DD78-916B-46C4-02B7-93CC88D34BD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2579062" y="-1148849"/>
                <a:ext cx="4103050" cy="410305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B4147F91-5610-1BBE-FF13-68EED9F88149}"/>
              </a:ext>
            </a:extLst>
          </p:cNvPr>
          <p:cNvSpPr txBox="1">
            <a:spLocks/>
          </p:cNvSpPr>
          <p:nvPr/>
        </p:nvSpPr>
        <p:spPr>
          <a:xfrm>
            <a:off x="7110211" y="2312576"/>
            <a:ext cx="255012" cy="25492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9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9BE0C8-2116-981C-B7CC-871C4B5A077C}"/>
              </a:ext>
            </a:extLst>
          </p:cNvPr>
          <p:cNvSpPr txBox="1">
            <a:spLocks/>
          </p:cNvSpPr>
          <p:nvPr/>
        </p:nvSpPr>
        <p:spPr>
          <a:xfrm>
            <a:off x="1864135" y="3777961"/>
            <a:ext cx="259466" cy="259379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b="1" dirty="0">
              <a:solidFill>
                <a:schemeClr val="bg1"/>
              </a:solidFill>
              <a:latin typeface="Malgun Gothic"/>
              <a:ea typeface="Malgun Gothic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A9B47C-12A0-D2D0-AE55-E4FE5E3CFF29}"/>
              </a:ext>
            </a:extLst>
          </p:cNvPr>
          <p:cNvSpPr txBox="1">
            <a:spLocks/>
          </p:cNvSpPr>
          <p:nvPr/>
        </p:nvSpPr>
        <p:spPr>
          <a:xfrm>
            <a:off x="3050811" y="1667807"/>
            <a:ext cx="255012" cy="25492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6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E85587-CD93-F869-69A6-82E8940DCD15}"/>
              </a:ext>
            </a:extLst>
          </p:cNvPr>
          <p:cNvSpPr txBox="1">
            <a:spLocks/>
          </p:cNvSpPr>
          <p:nvPr/>
        </p:nvSpPr>
        <p:spPr>
          <a:xfrm>
            <a:off x="4837635" y="407198"/>
            <a:ext cx="255012" cy="25492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BC3B95-4A73-ABB0-8B6B-14215950F9CB}"/>
              </a:ext>
            </a:extLst>
          </p:cNvPr>
          <p:cNvSpPr txBox="1"/>
          <p:nvPr/>
        </p:nvSpPr>
        <p:spPr>
          <a:xfrm>
            <a:off x="1834661" y="3798275"/>
            <a:ext cx="339968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b="1">
                <a:solidFill>
                  <a:schemeClr val="bg1"/>
                </a:solidFill>
                <a:latin typeface="Malgun Gothic"/>
                <a:ea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440</cp:revision>
  <dcterms:created xsi:type="dcterms:W3CDTF">2026-03-13T00:26:23Z</dcterms:created>
  <dcterms:modified xsi:type="dcterms:W3CDTF">2026-03-13T08:07:30Z</dcterms:modified>
</cp:coreProperties>
</file>